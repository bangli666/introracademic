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1"/>
  </p:notesMasterIdLst>
  <p:sldIdLst>
    <p:sldId id="470" r:id="rId2"/>
    <p:sldId id="318" r:id="rId3"/>
    <p:sldId id="395" r:id="rId4"/>
    <p:sldId id="396" r:id="rId5"/>
    <p:sldId id="319" r:id="rId6"/>
    <p:sldId id="320" r:id="rId7"/>
    <p:sldId id="459" r:id="rId8"/>
    <p:sldId id="412" r:id="rId9"/>
    <p:sldId id="460" r:id="rId10"/>
    <p:sldId id="277" r:id="rId11"/>
    <p:sldId id="411" r:id="rId12"/>
    <p:sldId id="457" r:id="rId13"/>
    <p:sldId id="461" r:id="rId14"/>
    <p:sldId id="468" r:id="rId15"/>
    <p:sldId id="462" r:id="rId16"/>
    <p:sldId id="413" r:id="rId17"/>
    <p:sldId id="425" r:id="rId18"/>
    <p:sldId id="430" r:id="rId19"/>
    <p:sldId id="431" r:id="rId20"/>
    <p:sldId id="432" r:id="rId21"/>
    <p:sldId id="442" r:id="rId22"/>
    <p:sldId id="420" r:id="rId23"/>
    <p:sldId id="426" r:id="rId24"/>
    <p:sldId id="423" r:id="rId25"/>
    <p:sldId id="429" r:id="rId26"/>
    <p:sldId id="428" r:id="rId27"/>
    <p:sldId id="421" r:id="rId28"/>
    <p:sldId id="463" r:id="rId29"/>
    <p:sldId id="417" r:id="rId30"/>
    <p:sldId id="443" r:id="rId31"/>
    <p:sldId id="444" r:id="rId32"/>
    <p:sldId id="469" r:id="rId33"/>
    <p:sldId id="464" r:id="rId34"/>
    <p:sldId id="419" r:id="rId35"/>
    <p:sldId id="445" r:id="rId36"/>
    <p:sldId id="466" r:id="rId37"/>
    <p:sldId id="439" r:id="rId38"/>
    <p:sldId id="414" r:id="rId39"/>
    <p:sldId id="434" r:id="rId40"/>
    <p:sldId id="415" r:id="rId41"/>
    <p:sldId id="446" r:id="rId42"/>
    <p:sldId id="448" r:id="rId43"/>
    <p:sldId id="447" r:id="rId44"/>
    <p:sldId id="449" r:id="rId45"/>
    <p:sldId id="436" r:id="rId46"/>
    <p:sldId id="467" r:id="rId47"/>
    <p:sldId id="416" r:id="rId48"/>
    <p:sldId id="450" r:id="rId49"/>
    <p:sldId id="437" r:id="rId50"/>
    <p:sldId id="441" r:id="rId51"/>
    <p:sldId id="451" r:id="rId52"/>
    <p:sldId id="452" r:id="rId53"/>
    <p:sldId id="453" r:id="rId54"/>
    <p:sldId id="454" r:id="rId55"/>
    <p:sldId id="418" r:id="rId56"/>
    <p:sldId id="455" r:id="rId57"/>
    <p:sldId id="458" r:id="rId58"/>
    <p:sldId id="399" r:id="rId59"/>
    <p:sldId id="410" r:id="rId6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1E91F4-BD53-1641-B130-88B815478958}">
          <p14:sldIdLst>
            <p14:sldId id="470"/>
            <p14:sldId id="318"/>
            <p14:sldId id="395"/>
            <p14:sldId id="396"/>
            <p14:sldId id="319"/>
            <p14:sldId id="320"/>
            <p14:sldId id="459"/>
          </p14:sldIdLst>
        </p14:section>
        <p14:section name="The programing language" id="{A8B6D6AF-B470-3245-9EAE-0A42C19A83C5}">
          <p14:sldIdLst>
            <p14:sldId id="412"/>
            <p14:sldId id="460"/>
            <p14:sldId id="277"/>
            <p14:sldId id="411"/>
            <p14:sldId id="457"/>
            <p14:sldId id="461"/>
            <p14:sldId id="468"/>
            <p14:sldId id="462"/>
          </p14:sldIdLst>
        </p14:section>
        <p14:section name="Data types" id="{38A6DEB3-763D-FA44-9A94-DA235B34353F}">
          <p14:sldIdLst>
            <p14:sldId id="413"/>
            <p14:sldId id="425"/>
            <p14:sldId id="430"/>
            <p14:sldId id="431"/>
            <p14:sldId id="432"/>
            <p14:sldId id="442"/>
            <p14:sldId id="420"/>
            <p14:sldId id="426"/>
            <p14:sldId id="423"/>
            <p14:sldId id="429"/>
            <p14:sldId id="428"/>
            <p14:sldId id="421"/>
            <p14:sldId id="463"/>
            <p14:sldId id="417"/>
            <p14:sldId id="443"/>
            <p14:sldId id="444"/>
            <p14:sldId id="469"/>
            <p14:sldId id="464"/>
            <p14:sldId id="419"/>
            <p14:sldId id="445"/>
            <p14:sldId id="466"/>
          </p14:sldIdLst>
        </p14:section>
        <p14:section name="Basic Data Manipulation" id="{4A44AAB5-151D-E44B-BC62-30B722E3D8CB}">
          <p14:sldIdLst>
            <p14:sldId id="439"/>
            <p14:sldId id="414"/>
            <p14:sldId id="434"/>
          </p14:sldIdLst>
        </p14:section>
        <p14:section name="Control structures" id="{7A1AE121-1021-F640-A4FE-1C5EEF6F3D0C}">
          <p14:sldIdLst/>
        </p14:section>
        <p14:section name="Advanced data manipulation" id="{FFDD4BD9-3EB7-E146-8F4C-C40F135AA965}">
          <p14:sldIdLst>
            <p14:sldId id="415"/>
            <p14:sldId id="446"/>
            <p14:sldId id="448"/>
            <p14:sldId id="447"/>
            <p14:sldId id="449"/>
            <p14:sldId id="436"/>
            <p14:sldId id="467"/>
          </p14:sldIdLst>
        </p14:section>
        <p14:section name="Visual outputs" id="{45ACB61B-1E1E-D844-81D3-5E05EADDB44A}">
          <p14:sldIdLst>
            <p14:sldId id="416"/>
            <p14:sldId id="450"/>
            <p14:sldId id="437"/>
            <p14:sldId id="441"/>
            <p14:sldId id="451"/>
            <p14:sldId id="452"/>
            <p14:sldId id="453"/>
            <p14:sldId id="454"/>
          </p14:sldIdLst>
        </p14:section>
        <p14:section name="Software development" id="{217818F5-086D-5341-88AC-3BFB0946C801}">
          <p14:sldIdLst>
            <p14:sldId id="418"/>
          </p14:sldIdLst>
        </p14:section>
        <p14:section name="Concluding remarks" id="{BFA0FCD1-B3EE-6447-892A-2239013F9343}">
          <p14:sldIdLst>
            <p14:sldId id="455"/>
            <p14:sldId id="458"/>
            <p14:sldId id="399"/>
            <p14:sldId id="4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686868"/>
    <a:srgbClr val="B2B2B2"/>
    <a:srgbClr val="B1BDBD"/>
    <a:srgbClr val="ED1B24"/>
    <a:srgbClr val="69B0A0"/>
    <a:srgbClr val="84ACB7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1" autoAdjust="0"/>
    <p:restoredTop sz="94346" autoAdjust="0"/>
  </p:normalViewPr>
  <p:slideViewPr>
    <p:cSldViewPr snapToGrid="0" snapToObjects="1">
      <p:cViewPr varScale="1">
        <p:scale>
          <a:sx n="87" d="100"/>
          <a:sy n="87" d="100"/>
        </p:scale>
        <p:origin x="147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9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9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21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34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53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5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5"/>
          </a:p>
        </p:txBody>
      </p:sp>
      <p:pic>
        <p:nvPicPr>
          <p:cNvPr id="14" name="Espace réservé du contenu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/>
          <p:cNvSpPr txBox="1"/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0" b="1" u="sng" dirty="0">
                <a:latin typeface="+mj-lt"/>
              </a:rPr>
              <a:t>Mission</a:t>
            </a:r>
            <a:r>
              <a:rPr lang="en-CA" sz="2000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0" dirty="0">
              <a:latin typeface="+mj-lt"/>
            </a:endParaRPr>
          </a:p>
          <a:p>
            <a:pPr marL="0" indent="0">
              <a:buNone/>
            </a:pPr>
            <a:endParaRPr lang="en-CA" sz="2000" dirty="0">
              <a:latin typeface="+mj-lt"/>
            </a:endParaRPr>
          </a:p>
          <a:p>
            <a:pPr marL="0" indent="0">
              <a:buNone/>
            </a:pPr>
            <a:endParaRPr lang="en-CA" sz="2000" dirty="0">
              <a:latin typeface="+mj-lt"/>
            </a:endParaRPr>
          </a:p>
          <a:p>
            <a:pPr marL="0" indent="0">
              <a:buNone/>
            </a:pPr>
            <a:endParaRPr lang="en-CA" sz="2000" dirty="0">
              <a:latin typeface="+mj-lt"/>
            </a:endParaRPr>
          </a:p>
          <a:p>
            <a:pPr marL="0" indent="0">
              <a:buNone/>
            </a:pPr>
            <a:endParaRPr lang="en-CA" sz="2000" dirty="0">
              <a:latin typeface="+mj-lt"/>
            </a:endParaRPr>
          </a:p>
          <a:p>
            <a:pPr marL="0" indent="0">
              <a:buNone/>
            </a:pPr>
            <a:endParaRPr lang="en-CA" sz="2000" dirty="0">
              <a:latin typeface="+mj-lt"/>
            </a:endParaRPr>
          </a:p>
          <a:p>
            <a:pPr marL="0" indent="0">
              <a:buNone/>
            </a:pPr>
            <a:endParaRPr lang="en-CA" sz="2000" dirty="0">
              <a:latin typeface="+mj-lt"/>
            </a:endParaRPr>
          </a:p>
          <a:p>
            <a:pPr marL="0" indent="0">
              <a:buNone/>
            </a:pPr>
            <a:endParaRPr lang="en-CA" sz="2000" dirty="0">
              <a:latin typeface="+mj-lt"/>
            </a:endParaRPr>
          </a:p>
          <a:p>
            <a:pPr marL="0" indent="0">
              <a:buNone/>
            </a:pPr>
            <a:endParaRPr lang="en-CA" sz="2000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0" dirty="0">
              <a:latin typeface="+mj-lt"/>
            </a:endParaRPr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3" y="2463796"/>
            <a:ext cx="4305010" cy="3421584"/>
          </a:xfrm>
          <a:prstGeom prst="rect">
            <a:avLst/>
          </a:prstGeom>
        </p:spPr>
      </p:pic>
      <p:pic>
        <p:nvPicPr>
          <p:cNvPr id="2" name="Picture 1" descr="A close-up of a logo&#10;&#10;Description automatically generated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5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5"/>
          </a:p>
        </p:txBody>
      </p:sp>
      <p:pic>
        <p:nvPicPr>
          <p:cNvPr id="14" name="Espace réservé du contenu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/>
          <p:cNvSpPr>
            <a:spLocks noGrp="1"/>
          </p:cNvSpPr>
          <p:nvPr>
            <p:ph type="body" sz="quarter" idx="10" hasCustomPrompt="1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2" name="Picture 1" descr="A close-up of a logo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5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5"/>
          </a:p>
        </p:txBody>
      </p:sp>
      <p:pic>
        <p:nvPicPr>
          <p:cNvPr id="14" name="Espace réservé du contenu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2" name="Picture 1" descr="A close-up of a logo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4" name="Picture 3" descr="A close-up of a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4" name="Picture 3" descr="A close-up of a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pic>
        <p:nvPicPr>
          <p:cNvPr id="5" name="Picture 4" descr="A close-up of a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3" name="Picture 2" descr="A close-up of a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765" indent="0">
              <a:buNone/>
              <a:defRPr sz="2000"/>
            </a:lvl8pPr>
            <a:lvl9pPr marL="3656965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5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5" name="Picture 4" descr="A close-up of a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/>
          <p:cNvGrpSpPr/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5" dirty="0">
                <a:latin typeface="Open Sans Light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5" dirty="0">
                <a:latin typeface="Open Sans Light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5" dirty="0">
                <a:latin typeface="Open Sans Light"/>
              </a:endParaRPr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5" dirty="0">
                <a:latin typeface="Open Sans Light"/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5" dirty="0">
                <a:latin typeface="Open Sans Light"/>
              </a:endParaRPr>
            </a:p>
          </p:txBody>
        </p:sp>
      </p:grpSp>
      <p:pic>
        <p:nvPicPr>
          <p:cNvPr id="21" name="Image 2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4400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65" indent="-228600" algn="l" defTabSz="914400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Bangli666/IntroRacademi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5" Type="http://schemas.openxmlformats.org/officeDocument/2006/relationships/hyperlink" Target="mailto:workshop-micm@mcgill.ca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r-project.org/about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preview.github.io/?https://github.com/higgi13425/medicaldata/blob/master/man/description_docs/covid_desc.html" TargetMode="External"/><Relationship Id="rId2" Type="http://schemas.openxmlformats.org/officeDocument/2006/relationships/hyperlink" Target="https://cran.r-project.org/web/packages/medicaldata/medicaldata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htmlpreview.github.io/?https://github.com/higgi13425/medicaldata/blob/master/man/codebooks/covid_testing_codebook.html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orchid00/R4da/blob/master/resources.md" TargetMode="External"/><Relationship Id="rId3" Type="http://schemas.openxmlformats.org/officeDocument/2006/relationships/hyperlink" Target="https://rc2e.com/" TargetMode="External"/><Relationship Id="rId7" Type="http://schemas.openxmlformats.org/officeDocument/2006/relationships/hyperlink" Target="https://docs.posit.co/ide/user/ide/reference/shortcuts.html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rstudio/cheatsheets/raw/master/data-transformation.pdf" TargetMode="External"/><Relationship Id="rId5" Type="http://schemas.openxmlformats.org/officeDocument/2006/relationships/hyperlink" Target="https://github.com/rstudio/cheatsheets/raw/master/data-visualization-2.1.pdf" TargetMode="External"/><Relationship Id="rId4" Type="http://schemas.openxmlformats.org/officeDocument/2006/relationships/hyperlink" Target="https://rstudio.github.io/cheatsheets/html/rstudio-id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0682" y="1454228"/>
            <a:ext cx="8955742" cy="4924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3200" b="1" u="sng" dirty="0"/>
              <a:t>Download Workshop Materials</a:t>
            </a:r>
          </a:p>
          <a:p>
            <a:pPr marL="457200" indent="-457200">
              <a:buAutoNum type="arabicPeriod"/>
            </a:pPr>
            <a:r>
              <a:rPr lang="en-CA" sz="2400" b="1" dirty="0"/>
              <a:t>Go to </a:t>
            </a:r>
            <a:r>
              <a:rPr lang="en-CA" sz="2400" b="1" dirty="0">
                <a:hlinkClick r:id="rId2"/>
              </a:rPr>
              <a:t>https://github.com/Bangli666/IntroRacademic</a:t>
            </a:r>
            <a:endParaRPr lang="en-CA" sz="2400" b="1" dirty="0"/>
          </a:p>
          <a:p>
            <a:pPr marL="457200" indent="-457200">
              <a:buAutoNum type="arabicPeriod"/>
            </a:pPr>
            <a:r>
              <a:rPr lang="en-CA" sz="2400" b="1" dirty="0"/>
              <a:t> </a:t>
            </a:r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47" y="2552289"/>
            <a:ext cx="6131559" cy="1515920"/>
          </a:xfrm>
          <a:prstGeom prst="rect">
            <a:avLst/>
          </a:prstGeom>
        </p:spPr>
      </p:pic>
      <p:sp>
        <p:nvSpPr>
          <p:cNvPr id="5" name="Arrow: Up 4"/>
          <p:cNvSpPr/>
          <p:nvPr/>
        </p:nvSpPr>
        <p:spPr>
          <a:xfrm rot="16200000">
            <a:off x="6968953" y="2351690"/>
            <a:ext cx="495714" cy="1112066"/>
          </a:xfrm>
          <a:prstGeom prst="upArrow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47" y="4220609"/>
            <a:ext cx="2510358" cy="2391054"/>
          </a:xfrm>
          <a:prstGeom prst="rect">
            <a:avLst/>
          </a:prstGeom>
        </p:spPr>
      </p:pic>
      <p:sp>
        <p:nvSpPr>
          <p:cNvPr id="8" name="Arrow: Up 7"/>
          <p:cNvSpPr/>
          <p:nvPr/>
        </p:nvSpPr>
        <p:spPr>
          <a:xfrm rot="16200000">
            <a:off x="3418930" y="5903230"/>
            <a:ext cx="495714" cy="1112066"/>
          </a:xfrm>
          <a:prstGeom prst="upArrow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79784"/>
            <a:ext cx="7886700" cy="3455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 to </a:t>
            </a:r>
            <a:br>
              <a:rPr lang="en-US" b="1" dirty="0"/>
            </a:br>
            <a:r>
              <a:rPr lang="en-US" b="1" dirty="0"/>
              <a:t>programming in R</a:t>
            </a:r>
            <a:br>
              <a:rPr lang="en-US" dirty="0"/>
            </a:br>
            <a:br>
              <a:rPr lang="en-US" sz="1800" dirty="0">
                <a:solidFill>
                  <a:srgbClr val="C00000"/>
                </a:solidFill>
              </a:rPr>
            </a:br>
            <a:r>
              <a:rPr lang="en-US" sz="3100" b="1" dirty="0">
                <a:solidFill>
                  <a:srgbClr val="69B0A0"/>
                </a:solidFill>
              </a:rPr>
              <a:t>Lead: Bangli Cao</a:t>
            </a:r>
            <a:br>
              <a:rPr lang="en-US" sz="3100" b="1" dirty="0">
                <a:solidFill>
                  <a:srgbClr val="69B0A0"/>
                </a:solidFill>
              </a:rPr>
            </a:br>
            <a:r>
              <a:rPr lang="en-US" sz="3100" b="1" dirty="0">
                <a:solidFill>
                  <a:srgbClr val="69B0A0"/>
                </a:solidFill>
              </a:rPr>
              <a:t>Facilitator: Chen-Yang Su</a:t>
            </a:r>
            <a:br>
              <a:rPr lang="en-CA" sz="6600" dirty="0">
                <a:solidFill>
                  <a:srgbClr val="FF0000"/>
                </a:solidFill>
              </a:rPr>
            </a:br>
            <a:br>
              <a:rPr lang="en-CA" sz="2200" dirty="0"/>
            </a:br>
            <a:r>
              <a:rPr lang="en-CA" sz="2200" dirty="0"/>
              <a:t>April 11, 2025</a:t>
            </a:r>
            <a:br>
              <a:rPr lang="en-CA" sz="2200" dirty="0"/>
            </a:br>
            <a:r>
              <a:rPr lang="en-CA" sz="2200" dirty="0"/>
              <a:t>Materials adapted from Adrien Osakwe</a:t>
            </a:r>
            <a:endParaRPr lang="en-US" sz="2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of a city&#10;&#10;Description automatically generated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4815"/>
          <a:stretch>
            <a:fillRect/>
          </a:stretch>
        </p:blipFill>
        <p:spPr>
          <a:xfrm>
            <a:off x="860093" y="2584447"/>
            <a:ext cx="2765329" cy="2517036"/>
          </a:xfrm>
          <a:prstGeom prst="ellipse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4887" y="5357337"/>
            <a:ext cx="3224152" cy="126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Location: 550 Sherbrooke West, Montreal, Quebec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>
                <a:latin typeface="Helvetica" pitchFamily="2" charset="0"/>
              </a:rPr>
              <a:t>Mission statement:</a:t>
            </a:r>
            <a:r>
              <a:rPr lang="en-CA" sz="1800">
                <a:latin typeface="Helvetica" pitchFamily="2" charset="0"/>
              </a:rPr>
              <a:t> d</a:t>
            </a:r>
            <a:r>
              <a:rPr lang="en-CA" sz="1800" b="0" i="0">
                <a:solidFill>
                  <a:srgbClr val="000000"/>
                </a:solidFill>
                <a:effectLst/>
                <a:latin typeface="Helvetica" pitchFamily="2" charset="0"/>
                <a:cs typeface="Calibri" panose="020F0502020204030204"/>
              </a:rPr>
              <a:t>eliver quality workshops designed to help biomedical researchers develop the skills they need to succeed.</a:t>
            </a:r>
            <a:endParaRPr lang="en-CA" sz="1800">
              <a:latin typeface="Helvetica" pitchFamily="2" charset="0"/>
              <a:cs typeface="Calibri" panose="020F0502020204030204"/>
            </a:endParaRPr>
          </a:p>
        </p:txBody>
      </p:sp>
      <p:pic>
        <p:nvPicPr>
          <p:cNvPr id="10" name="Picture 9" descr="A logo with a letter m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pic>
        <p:nvPicPr>
          <p:cNvPr id="12" name="Picture 11" descr="A qr code with black squares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580" y="2808275"/>
            <a:ext cx="2203814" cy="22038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/>
              <a:t>Scan the QR code to sign up </a:t>
            </a:r>
          </a:p>
          <a:p>
            <a:pPr algn="ctr"/>
            <a:r>
              <a:rPr lang="en-CA" sz="1800" dirty="0"/>
              <a:t>for our </a:t>
            </a:r>
            <a:r>
              <a:rPr lang="en-CA" sz="1800" b="1" dirty="0"/>
              <a:t>mailing list</a:t>
            </a:r>
            <a:endParaRPr lang="en-CA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860093" y="6261053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/>
              <a:t>Contact: </a:t>
            </a:r>
            <a:r>
              <a:rPr lang="en-CA" sz="1800">
                <a:hlinkClick r:id="rId5"/>
              </a:rPr>
              <a:t>workshop-micm@mcgill.ca</a:t>
            </a:r>
            <a:r>
              <a:rPr lang="en-CA" sz="1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1750395" y="5222976"/>
            <a:ext cx="564321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34602" y="3643922"/>
            <a:ext cx="175282" cy="1440141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791" y="2043367"/>
            <a:ext cx="6261811" cy="30406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729524" y="2421886"/>
            <a:ext cx="2423610" cy="2588888"/>
            <a:chOff x="3843113" y="2349500"/>
            <a:chExt cx="2843759" cy="2588888"/>
          </a:xfrm>
        </p:grpSpPr>
        <p:sp>
          <p:nvSpPr>
            <p:cNvPr id="9" name="TextBox 8"/>
            <p:cNvSpPr txBox="1"/>
            <p:nvPr/>
          </p:nvSpPr>
          <p:spPr>
            <a:xfrm>
              <a:off x="4505560" y="2499899"/>
              <a:ext cx="1737124" cy="230935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The </a:t>
              </a:r>
            </a:p>
            <a:p>
              <a:r>
                <a:rPr lang="en-US" b="1" dirty="0">
                  <a:solidFill>
                    <a:schemeClr val="accent2"/>
                  </a:solidFill>
                </a:rPr>
                <a:t>language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History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Foundation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Syntax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Logical ops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Help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Packages</a:t>
              </a:r>
            </a:p>
          </p:txBody>
        </p:sp>
        <p:sp>
          <p:nvSpPr>
            <p:cNvPr id="5" name="Round Diagonal Corner Rectangle 4"/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2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1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436600" y="2419327"/>
            <a:ext cx="2423610" cy="2588888"/>
            <a:chOff x="3843112" y="2349500"/>
            <a:chExt cx="3052988" cy="2588888"/>
          </a:xfrm>
        </p:grpSpPr>
        <p:sp>
          <p:nvSpPr>
            <p:cNvPr id="18" name="TextBox 17"/>
            <p:cNvSpPr txBox="1"/>
            <p:nvPr/>
          </p:nvSpPr>
          <p:spPr>
            <a:xfrm>
              <a:off x="4645969" y="2489269"/>
              <a:ext cx="1836653" cy="230935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84ACB7"/>
                  </a:solidFill>
                </a:rPr>
                <a:t>Data </a:t>
              </a:r>
            </a:p>
            <a:p>
              <a:r>
                <a:rPr lang="en-US" b="1" dirty="0">
                  <a:solidFill>
                    <a:srgbClr val="84ACB7"/>
                  </a:solidFill>
                </a:rPr>
                <a:t>types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Vectors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Factors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Lists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Data Frames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Arrays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</p:txBody>
        </p:sp>
        <p:sp>
          <p:nvSpPr>
            <p:cNvPr id="19" name="Round Diagonal Corner Rectangle 18"/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84ACB7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2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143676" y="2419327"/>
            <a:ext cx="2514307" cy="2591447"/>
            <a:chOff x="3843113" y="2349500"/>
            <a:chExt cx="2843759" cy="2588888"/>
          </a:xfrm>
        </p:grpSpPr>
        <p:sp>
          <p:nvSpPr>
            <p:cNvPr id="3" name="TextBox 2"/>
            <p:cNvSpPr txBox="1"/>
            <p:nvPr/>
          </p:nvSpPr>
          <p:spPr>
            <a:xfrm>
              <a:off x="4505559" y="2499899"/>
              <a:ext cx="2099055" cy="1753363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686868"/>
                  </a:solidFill>
                </a:rPr>
                <a:t>Control </a:t>
              </a:r>
            </a:p>
            <a:p>
              <a:r>
                <a:rPr lang="en-US" b="1" dirty="0">
                  <a:solidFill>
                    <a:srgbClr val="686868"/>
                  </a:solidFill>
                </a:rPr>
                <a:t>Structures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Functions</a:t>
              </a:r>
            </a:p>
            <a:p>
              <a:r>
                <a:rPr lang="en-US" i="1" dirty="0">
                  <a:solidFill>
                    <a:schemeClr val="tx1"/>
                  </a:solidFill>
                </a:rPr>
                <a:t>If</a:t>
              </a:r>
              <a:r>
                <a:rPr lang="en-US" dirty="0">
                  <a:solidFill>
                    <a:schemeClr val="tx1"/>
                  </a:solidFill>
                </a:rPr>
                <a:t> statement</a:t>
              </a:r>
            </a:p>
            <a:p>
              <a:r>
                <a:rPr lang="en-US" i="1" dirty="0">
                  <a:solidFill>
                    <a:schemeClr val="tx1"/>
                  </a:solidFill>
                </a:rPr>
                <a:t>for</a:t>
              </a:r>
              <a:r>
                <a:rPr lang="en-US" dirty="0">
                  <a:solidFill>
                    <a:schemeClr val="tx1"/>
                  </a:solidFill>
                </a:rPr>
                <a:t> loop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</p:txBody>
        </p:sp>
        <p:sp>
          <p:nvSpPr>
            <p:cNvPr id="6" name="Round Diagonal Corner Rectangle 5"/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686868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95512" y="2489268"/>
              <a:ext cx="576488" cy="768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686868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3</a:t>
              </a:r>
            </a:p>
          </p:txBody>
        </p:sp>
      </p:grpSp>
      <p:sp>
        <p:nvSpPr>
          <p:cNvPr id="12" name="Titre 3"/>
          <p:cNvSpPr txBox="1"/>
          <p:nvPr/>
        </p:nvSpPr>
        <p:spPr>
          <a:xfrm>
            <a:off x="628650" y="1164639"/>
            <a:ext cx="7886700" cy="6263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b="1" dirty="0"/>
              <a:t>Workshop outline Part 1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28650" y="1164639"/>
            <a:ext cx="7886700" cy="626301"/>
          </a:xfrm>
        </p:spPr>
        <p:txBody>
          <a:bodyPr>
            <a:normAutofit/>
          </a:bodyPr>
          <a:lstStyle/>
          <a:p>
            <a:r>
              <a:rPr lang="en-CA" sz="2800" b="1" dirty="0"/>
              <a:t>Workshop outline Part 2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3562522" y="2146191"/>
            <a:ext cx="2270801" cy="2436753"/>
            <a:chOff x="3843113" y="2349500"/>
            <a:chExt cx="2843759" cy="2876580"/>
          </a:xfrm>
        </p:grpSpPr>
        <p:sp>
          <p:nvSpPr>
            <p:cNvPr id="9" name="TextBox 8"/>
            <p:cNvSpPr txBox="1"/>
            <p:nvPr/>
          </p:nvSpPr>
          <p:spPr>
            <a:xfrm>
              <a:off x="4505560" y="2499899"/>
              <a:ext cx="2099053" cy="2726181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ED1B24"/>
                  </a:solidFill>
                </a:rPr>
                <a:t>Advanced data </a:t>
              </a:r>
            </a:p>
            <a:p>
              <a:r>
                <a:rPr lang="en-US" b="1" dirty="0">
                  <a:solidFill>
                    <a:srgbClr val="ED1B24"/>
                  </a:solidFill>
                </a:rPr>
                <a:t>Manipulation</a:t>
              </a:r>
              <a:endParaRPr lang="en-US" dirty="0">
                <a:solidFill>
                  <a:srgbClr val="ED1B24"/>
                </a:solidFill>
              </a:endParaRPr>
            </a:p>
            <a:p>
              <a:r>
                <a:rPr lang="en-US" dirty="0">
                  <a:solidFill>
                    <a:schemeClr val="tx1"/>
                  </a:solidFill>
                </a:rPr>
                <a:t>dplyr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tidyr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plyr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DataTable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ound Diagonal Corner Rectangle 4"/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ED1B2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95512" y="2489268"/>
              <a:ext cx="576488" cy="908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ED1B24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5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03430" y="2145952"/>
            <a:ext cx="2270801" cy="2193049"/>
            <a:chOff x="3843112" y="2349500"/>
            <a:chExt cx="3052988" cy="2588888"/>
          </a:xfrm>
        </p:grpSpPr>
        <p:sp>
          <p:nvSpPr>
            <p:cNvPr id="18" name="TextBox 17"/>
            <p:cNvSpPr txBox="1"/>
            <p:nvPr/>
          </p:nvSpPr>
          <p:spPr>
            <a:xfrm>
              <a:off x="4645969" y="2489268"/>
              <a:ext cx="1836654" cy="2071886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B2B2B2"/>
                  </a:solidFill>
                </a:rPr>
                <a:t>Generating</a:t>
              </a:r>
            </a:p>
            <a:p>
              <a:r>
                <a:rPr lang="en-US" b="1" dirty="0">
                  <a:solidFill>
                    <a:srgbClr val="B2B2B2"/>
                  </a:solidFill>
                </a:rPr>
                <a:t>Outputs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Graphics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ggplot2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RMarkdown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Templates</a:t>
              </a:r>
            </a:p>
          </p:txBody>
        </p:sp>
        <p:sp>
          <p:nvSpPr>
            <p:cNvPr id="19" name="Round Diagonal Corner Rectangle 18"/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95513" y="2489268"/>
              <a:ext cx="576489" cy="908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B2B2B2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6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121613" y="4457284"/>
            <a:ext cx="2270801" cy="2427748"/>
            <a:chOff x="3843112" y="2349500"/>
            <a:chExt cx="3052988" cy="2865949"/>
          </a:xfrm>
        </p:grpSpPr>
        <p:sp>
          <p:nvSpPr>
            <p:cNvPr id="10" name="TextBox 9"/>
            <p:cNvSpPr txBox="1"/>
            <p:nvPr/>
          </p:nvSpPr>
          <p:spPr>
            <a:xfrm>
              <a:off x="4645968" y="2489268"/>
              <a:ext cx="2250131" cy="2726181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</a:rPr>
                <a:t>Software development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Good coding practices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Documentation standards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Debugging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ound Diagonal Corner Rectangle 10"/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95513" y="2489268"/>
              <a:ext cx="576489" cy="908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Bangla Sangam MN" panose="02000000000000000000" pitchFamily="2" charset="0"/>
                  <a:cs typeface="Bangla Sangam MN" panose="02000000000000000000" pitchFamily="2" charset="0"/>
                </a:rPr>
                <a:t>7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121614" y="2151862"/>
            <a:ext cx="2270801" cy="2449272"/>
            <a:chOff x="3843112" y="2349500"/>
            <a:chExt cx="3052988" cy="2863959"/>
          </a:xfrm>
        </p:grpSpPr>
        <p:sp>
          <p:nvSpPr>
            <p:cNvPr id="23" name="TextBox 22"/>
            <p:cNvSpPr txBox="1"/>
            <p:nvPr/>
          </p:nvSpPr>
          <p:spPr>
            <a:xfrm>
              <a:off x="4645969" y="2489269"/>
              <a:ext cx="2075968" cy="272419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Basic data manipulation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Read &amp; Write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Subset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Split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Join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  <a:p>
              <a:endParaRPr lang="en-US" dirty="0">
                <a:solidFill>
                  <a:srgbClr val="84ACB7"/>
                </a:solidFill>
              </a:endParaRPr>
            </a:p>
          </p:txBody>
        </p:sp>
        <p:sp>
          <p:nvSpPr>
            <p:cNvPr id="24" name="Round Diagonal Corner Rectangle 23"/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Workshop Components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b="1" dirty="0"/>
              <a:t>Theory</a:t>
            </a:r>
          </a:p>
          <a:p>
            <a:r>
              <a:rPr lang="en-CA" b="1" dirty="0"/>
              <a:t>Code Examples</a:t>
            </a:r>
          </a:p>
          <a:p>
            <a:r>
              <a:rPr lang="en-CA" b="1" dirty="0"/>
              <a:t>Hands-on Activities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9" y="2141951"/>
            <a:ext cx="2949178" cy="2254684"/>
          </a:xfrm>
        </p:spPr>
        <p:txBody>
          <a:bodyPr>
            <a:normAutofit/>
          </a:bodyPr>
          <a:lstStyle/>
          <a:p>
            <a:pPr defTabSz="914400"/>
            <a:r>
              <a:rPr lang="en-US" sz="4000" b="1" dirty="0">
                <a:solidFill>
                  <a:schemeClr val="accent2"/>
                </a:solidFill>
                <a:ea typeface="+mn-ea"/>
                <a:cs typeface="+mn-cs"/>
              </a:rPr>
              <a:t>1. The R programming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979309"/>
            <a:ext cx="4146115" cy="230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R is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use R with more convenience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Why not Excel?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Easy at first glance</a:t>
            </a:r>
          </a:p>
          <a:p>
            <a:endParaRPr lang="en-CA" dirty="0"/>
          </a:p>
          <a:p>
            <a:r>
              <a:rPr lang="en-CA" b="1" dirty="0">
                <a:solidFill>
                  <a:srgbClr val="FF0000"/>
                </a:solidFill>
              </a:rPr>
              <a:t>Issues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Hard to automate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Hard to reproduce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Inflexible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Slow!</a:t>
            </a:r>
          </a:p>
          <a:p>
            <a:pPr marL="0" indent="0">
              <a:buNone/>
            </a:pPr>
            <a:r>
              <a:rPr lang="en-CA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65" y="268290"/>
            <a:ext cx="1656610" cy="15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5" descr="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906" y="4192270"/>
            <a:ext cx="1991907" cy="15407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71500" y="2751532"/>
            <a:ext cx="4174299" cy="3183177"/>
          </a:xfrm>
        </p:spPr>
        <p:txBody>
          <a:bodyPr>
            <a:noAutofit/>
          </a:bodyPr>
          <a:lstStyle/>
          <a:p>
            <a:r>
              <a:rPr lang="en-CA" sz="2200" b="1" dirty="0"/>
              <a:t>Statistical</a:t>
            </a:r>
            <a:r>
              <a:rPr lang="en-CA" sz="2200" dirty="0"/>
              <a:t> Programming Language</a:t>
            </a:r>
          </a:p>
          <a:p>
            <a:r>
              <a:rPr lang="en-CA" sz="2000" dirty="0"/>
              <a:t>Integrated suite for </a:t>
            </a:r>
            <a:r>
              <a:rPr lang="en-CA" sz="2000" b="1" dirty="0"/>
              <a:t>data manipulation, analysis, and graphical visualization</a:t>
            </a:r>
          </a:p>
          <a:p>
            <a:r>
              <a:rPr lang="en-CA" sz="2000" dirty="0"/>
              <a:t>Environment where </a:t>
            </a:r>
            <a:r>
              <a:rPr lang="en-CA" sz="2000" b="1" dirty="0"/>
              <a:t>statistical tests can be performed</a:t>
            </a:r>
          </a:p>
          <a:p>
            <a:r>
              <a:rPr lang="en-CA" sz="2000" dirty="0"/>
              <a:t>Its functionality can be easily extended with </a:t>
            </a:r>
            <a:r>
              <a:rPr lang="en-CA" sz="2000" b="1" i="1" dirty="0"/>
              <a:t>packages</a:t>
            </a:r>
          </a:p>
          <a:p>
            <a:endParaRPr lang="en-CA" sz="2200" dirty="0"/>
          </a:p>
        </p:txBody>
      </p:sp>
      <p:pic>
        <p:nvPicPr>
          <p:cNvPr id="6" name="Content Placeholder 5" descr="Logo&#10;&#10;Description automatically generated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576046" y="923290"/>
            <a:ext cx="1991907" cy="1540701"/>
          </a:xfrm>
        </p:spPr>
      </p:pic>
      <p:sp>
        <p:nvSpPr>
          <p:cNvPr id="7" name="Espace réservé du contenu 2"/>
          <p:cNvSpPr txBox="1"/>
          <p:nvPr/>
        </p:nvSpPr>
        <p:spPr>
          <a:xfrm>
            <a:off x="4745799" y="2749230"/>
            <a:ext cx="3886200" cy="3185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/>
            </a:lvl1pPr>
            <a:lvl2pPr marL="685800" indent="-228600" defTabSz="914400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2000"/>
            </a:lvl3pPr>
            <a:lvl4pPr marL="1599565" indent="-228600" defTabSz="914400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/>
            </a:lvl4pPr>
            <a:lvl5pPr marL="2056765" indent="-228600" defTabSz="914400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/>
            </a:lvl5pPr>
            <a:lvl6pPr marL="2513965" indent="-228600" defTabSz="914400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/>
            </a:lvl6pPr>
            <a:lvl7pPr marL="2971165" indent="-228600" defTabSz="914400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/>
            </a:lvl7pPr>
            <a:lvl8pPr marL="3428365" indent="-228600" defTabSz="914400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/>
            </a:lvl8pPr>
            <a:lvl9pPr marL="3884930" indent="-228600" defTabSz="914400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en-CA" dirty="0"/>
              <a:t>GNU project of free software </a:t>
            </a:r>
          </a:p>
          <a:p>
            <a:r>
              <a:rPr lang="en-CA" dirty="0"/>
              <a:t>Users have the freedom to:</a:t>
            </a:r>
          </a:p>
          <a:p>
            <a:pPr lvl="1"/>
            <a:r>
              <a:rPr lang="en-CA" dirty="0"/>
              <a:t>Run the program </a:t>
            </a:r>
          </a:p>
          <a:p>
            <a:pPr lvl="1"/>
            <a:r>
              <a:rPr lang="en-CA" dirty="0"/>
              <a:t>View and modify the source code</a:t>
            </a:r>
          </a:p>
          <a:p>
            <a:pPr lvl="1"/>
            <a:r>
              <a:rPr lang="en-CA" dirty="0"/>
              <a:t>Redistribute copies and</a:t>
            </a:r>
          </a:p>
          <a:p>
            <a:pPr lvl="1"/>
            <a:r>
              <a:rPr lang="en-CA" dirty="0"/>
              <a:t>Distribute their modifications</a:t>
            </a:r>
          </a:p>
          <a:p>
            <a:endParaRPr lang="en-CA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412972"/>
            <a:ext cx="4603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B2B2B2"/>
                </a:solidFill>
                <a:hlinkClick r:id="rId4" tooltip="R project - About"/>
              </a:rPr>
              <a:t>https://www.r-project.org/about.html</a:t>
            </a:r>
            <a:r>
              <a:rPr lang="en-US" sz="1600" i="1" dirty="0">
                <a:solidFill>
                  <a:srgbClr val="B2B2B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Interpreted language</a:t>
            </a:r>
          </a:p>
          <a:p>
            <a:r>
              <a:rPr lang="en-US" dirty="0"/>
              <a:t>Object-oriented</a:t>
            </a:r>
          </a:p>
          <a:p>
            <a:r>
              <a:rPr lang="en-US" dirty="0"/>
              <a:t>No spaces allowed in variable names</a:t>
            </a:r>
          </a:p>
          <a:p>
            <a:r>
              <a:rPr lang="en-US" dirty="0"/>
              <a:t>Case sensitive</a:t>
            </a:r>
          </a:p>
          <a:p>
            <a:r>
              <a:rPr lang="en-US" dirty="0"/>
              <a:t>1-based indexing</a:t>
            </a:r>
          </a:p>
          <a:p>
            <a:r>
              <a:rPr lang="en-US" dirty="0"/>
              <a:t>Allows user-defined functions</a:t>
            </a:r>
          </a:p>
          <a:p>
            <a:r>
              <a:rPr lang="en-US" dirty="0"/>
              <a:t>Works with environments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 Files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Many types of files can contain R code</a:t>
            </a:r>
          </a:p>
          <a:p>
            <a:pPr lvl="1"/>
            <a:r>
              <a:rPr lang="en-CA" b="1" dirty="0"/>
              <a:t>.R ‘Script’</a:t>
            </a:r>
          </a:p>
          <a:p>
            <a:pPr lvl="1"/>
            <a:r>
              <a:rPr lang="en-CA" b="1" dirty="0"/>
              <a:t>.</a:t>
            </a:r>
            <a:r>
              <a:rPr lang="en-CA" b="1" dirty="0" err="1"/>
              <a:t>Rmd</a:t>
            </a:r>
            <a:r>
              <a:rPr lang="en-CA" b="1" dirty="0"/>
              <a:t> ‘R Notebook’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qmd</a:t>
            </a:r>
            <a:r>
              <a:rPr lang="en-CA" dirty="0"/>
              <a:t> ‘Quarto Notebook’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ipynb</a:t>
            </a:r>
            <a:r>
              <a:rPr lang="en-CA" dirty="0"/>
              <a:t> ‘</a:t>
            </a:r>
            <a:r>
              <a:rPr lang="en-CA" dirty="0" err="1"/>
              <a:t>Jupyter</a:t>
            </a:r>
            <a:r>
              <a:rPr lang="en-CA" dirty="0"/>
              <a:t> Notebook’</a:t>
            </a:r>
          </a:p>
          <a:p>
            <a:r>
              <a:rPr lang="en-CA" dirty="0"/>
              <a:t>Scripts</a:t>
            </a:r>
          </a:p>
          <a:p>
            <a:pPr lvl="1"/>
            <a:r>
              <a:rPr lang="en-CA" dirty="0"/>
              <a:t>Automation &amp; Portability</a:t>
            </a:r>
          </a:p>
          <a:p>
            <a:r>
              <a:rPr lang="en-CA" dirty="0"/>
              <a:t>Notebooks</a:t>
            </a:r>
          </a:p>
          <a:p>
            <a:pPr lvl="1"/>
            <a:r>
              <a:rPr lang="en-CA" dirty="0"/>
              <a:t>Documentation</a:t>
            </a:r>
          </a:p>
          <a:p>
            <a:pPr lvl="1"/>
            <a:r>
              <a:rPr lang="en-CA" dirty="0"/>
              <a:t>Accessibility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 &amp; RStudio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 &amp; RStudio are </a:t>
            </a:r>
            <a:r>
              <a:rPr lang="en-CA" b="1" dirty="0"/>
              <a:t>different entities</a:t>
            </a:r>
            <a:endParaRPr lang="en-CA" dirty="0"/>
          </a:p>
          <a:p>
            <a:endParaRPr lang="en-CA" dirty="0"/>
          </a:p>
          <a:p>
            <a:r>
              <a:rPr lang="en-CA" dirty="0"/>
              <a:t>R is the programming language</a:t>
            </a:r>
          </a:p>
          <a:p>
            <a:pPr lvl="1"/>
            <a:r>
              <a:rPr lang="en-CA" dirty="0"/>
              <a:t>The actual code we execute</a:t>
            </a:r>
          </a:p>
          <a:p>
            <a:pPr lvl="1"/>
            <a:r>
              <a:rPr lang="en-CA" dirty="0"/>
              <a:t>Developed at the University of Auckland</a:t>
            </a:r>
          </a:p>
          <a:p>
            <a:r>
              <a:rPr lang="en-CA" dirty="0"/>
              <a:t>RStudio is an </a:t>
            </a:r>
            <a:r>
              <a:rPr lang="en-CA" b="1" dirty="0"/>
              <a:t>Integrated Development Environment (IDE)</a:t>
            </a:r>
          </a:p>
          <a:p>
            <a:pPr lvl="1"/>
            <a:r>
              <a:rPr lang="en-CA" dirty="0"/>
              <a:t>A  GUI software to develop and execute R code</a:t>
            </a:r>
          </a:p>
          <a:p>
            <a:pPr lvl="1"/>
            <a:r>
              <a:rPr lang="en-CA" dirty="0"/>
              <a:t>Developed by Posit</a:t>
            </a:r>
            <a:endParaRPr lang="en-US" dirty="0"/>
          </a:p>
        </p:txBody>
      </p:sp>
      <p:pic>
        <p:nvPicPr>
          <p:cNvPr id="4" name="Content Placeholder 5" descr="Logo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993" y="457071"/>
            <a:ext cx="1476013" cy="11416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1004"/>
          <a:stretch>
            <a:fillRect/>
          </a:stretch>
        </p:blipFill>
        <p:spPr>
          <a:xfrm>
            <a:off x="6067109" y="365123"/>
            <a:ext cx="1476014" cy="14891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85003"/>
            <a:ext cx="7594600" cy="58207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013"/>
            <a:ext cx="9144000" cy="49508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90170"/>
            <a:ext cx="4572000" cy="2584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581400"/>
            <a:ext cx="4572000" cy="201142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724400" y="3108696"/>
            <a:ext cx="4419600" cy="2484133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724400" y="990170"/>
            <a:ext cx="4419600" cy="2081518"/>
          </a:xfrm>
          <a:prstGeom prst="rect">
            <a:avLst/>
          </a:prstGeom>
          <a:noFill/>
          <a:ln w="571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/>
          <p:cNvSpPr/>
          <p:nvPr/>
        </p:nvSpPr>
        <p:spPr>
          <a:xfrm>
            <a:off x="838200" y="381661"/>
            <a:ext cx="317500" cy="6085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/>
          <p:cNvSpPr/>
          <p:nvPr/>
        </p:nvSpPr>
        <p:spPr>
          <a:xfrm>
            <a:off x="5410200" y="293860"/>
            <a:ext cx="317500" cy="6963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/>
          <p:cNvSpPr/>
          <p:nvPr/>
        </p:nvSpPr>
        <p:spPr>
          <a:xfrm rot="10800000">
            <a:off x="1885950" y="5185337"/>
            <a:ext cx="317500" cy="522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/>
          <p:cNvSpPr/>
          <p:nvPr/>
        </p:nvSpPr>
        <p:spPr>
          <a:xfrm rot="10800000">
            <a:off x="5673725" y="5330295"/>
            <a:ext cx="317500" cy="522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68300" y="57881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Source Pane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181102" y="571500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Console Pane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937125" y="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Environment Pane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089525" y="584048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Files/Plot/Help Pane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9" y="1486224"/>
            <a:ext cx="2949178" cy="298119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84ACB7"/>
                </a:solidFill>
              </a:rPr>
              <a:t>Data types and data structures</a:t>
            </a:r>
            <a:br>
              <a:rPr lang="en-US" sz="4400" b="1" dirty="0">
                <a:solidFill>
                  <a:srgbClr val="84ACB7"/>
                </a:solidFill>
              </a:rPr>
            </a:br>
            <a:endParaRPr lang="en-US" sz="4000" b="1" dirty="0">
              <a:solidFill>
                <a:schemeClr val="accent2"/>
              </a:solidFill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70426" y="1822146"/>
            <a:ext cx="4146115" cy="314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differences between classes, objects and data types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objects of different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Subset and index objects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and use vectorized operations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Atomic Classes</a:t>
            </a:r>
            <a:br>
              <a:rPr lang="en-US" b="1" dirty="0"/>
            </a:br>
            <a:r>
              <a:rPr lang="en-US" sz="1800" b="1" dirty="0"/>
              <a:t>Also called data types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1696095" y="2141952"/>
          <a:ext cx="5440049" cy="356867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Character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A,b,c,d,e,..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Numeric (real numbers)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1.00,2.00,… </a:t>
                      </a:r>
                    </a:p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Inf, NaN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Integer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1L,2L,3L,4L,….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Complex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2i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Logical (True/False)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TRUE,FALSE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latin typeface="+mj-lt"/>
                        </a:rPr>
                        <a:t>Missing Value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Monaco" pitchFamily="2" charset="77"/>
                        </a:rPr>
                        <a:t>NA</a:t>
                      </a:r>
                      <a:endParaRPr lang="en-US" dirty="0">
                        <a:latin typeface="Monaco" pitchFamily="2" charset="7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Arithmetic operators</a:t>
            </a:r>
          </a:p>
        </p:txBody>
      </p:sp>
      <p:graphicFrame>
        <p:nvGraphicFramePr>
          <p:cNvPr id="6" name="Table 4"/>
          <p:cNvGraphicFramePr/>
          <p:nvPr/>
        </p:nvGraphicFramePr>
        <p:xfrm>
          <a:off x="1683568" y="2055105"/>
          <a:ext cx="5440049" cy="356867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Addition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+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Subtraction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-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Division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/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Power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^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Scalar multiplication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*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Matrix multiplication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%*%</a:t>
                      </a:r>
                      <a:endParaRPr lang="en-US" dirty="0">
                        <a:latin typeface="Monaco" pitchFamily="2" charset="7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Syntax operators</a:t>
            </a:r>
          </a:p>
        </p:txBody>
      </p:sp>
      <p:graphicFrame>
        <p:nvGraphicFramePr>
          <p:cNvPr id="6" name="Table 4"/>
          <p:cNvGraphicFramePr/>
          <p:nvPr/>
        </p:nvGraphicFramePr>
        <p:xfrm>
          <a:off x="1595886" y="2405833"/>
          <a:ext cx="5440049" cy="2427950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Comment line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#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Assignation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&lt;-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Access 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$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Equal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Logical operators</a:t>
            </a:r>
          </a:p>
        </p:txBody>
      </p:sp>
      <p:graphicFrame>
        <p:nvGraphicFramePr>
          <p:cNvPr id="6" name="Table 4"/>
          <p:cNvGraphicFramePr/>
          <p:nvPr/>
        </p:nvGraphicFramePr>
        <p:xfrm>
          <a:off x="264041" y="1402563"/>
          <a:ext cx="4929751" cy="4751346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329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Equal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==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22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Not equal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!=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Greater than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&gt;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Greater than or equal to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&gt;=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Less than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&lt;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Less than or equal to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&lt;=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contains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%in%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x AND y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x &amp; y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x OR y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Monaco" pitchFamily="2" charset="77"/>
                        </a:rPr>
                        <a:t>x | y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NOT x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Monaco" pitchFamily="2" charset="77"/>
                        </a:rPr>
                        <a:t>!x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Objects</a:t>
            </a:r>
            <a:br>
              <a:rPr lang="en-US" b="1" dirty="0"/>
            </a:br>
            <a:r>
              <a:rPr lang="en-US" sz="1800" b="1" dirty="0"/>
              <a:t>Also called data structures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1696095" y="2141952"/>
          <a:ext cx="5440049" cy="3777828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Vector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Only elements of the same class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List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</a:rPr>
                        <a:t>Elements of any class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Factor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Categorical data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Matrix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Elements of the same class in 2D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Data frame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Elements of multiple classes in 2D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latin typeface="+mj-lt"/>
                        </a:rPr>
                        <a:t>NULL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+mn-lt"/>
                        </a:rPr>
                        <a:t>Empty object</a:t>
                      </a:r>
                      <a:endParaRPr 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 dimension </a:t>
            </a:r>
          </a:p>
        </p:txBody>
      </p:sp>
      <p:pic>
        <p:nvPicPr>
          <p:cNvPr id="6" name="Content Placeholder 5" descr="Dia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50" y="1803673"/>
            <a:ext cx="5474853" cy="3741608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only contain objects of the </a:t>
            </a:r>
            <a:r>
              <a:rPr lang="en-US" b="1" dirty="0"/>
              <a:t>same class</a:t>
            </a:r>
          </a:p>
          <a:p>
            <a:r>
              <a:rPr lang="en-US" dirty="0"/>
              <a:t>Most basic type of R object</a:t>
            </a:r>
          </a:p>
          <a:p>
            <a:r>
              <a:rPr lang="en-US" dirty="0"/>
              <a:t>Variables are vectors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29000"/>
            <a:ext cx="4132549" cy="31087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Vectorized operations</a:t>
            </a:r>
          </a:p>
        </p:txBody>
      </p:sp>
      <p:pic>
        <p:nvPicPr>
          <p:cNvPr id="7" name="Picture 6" descr="Diagram, engineering drawing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1450989"/>
            <a:ext cx="2646224" cy="2607021"/>
          </a:xfrm>
          <a:prstGeom prst="rect">
            <a:avLst/>
          </a:prstGeom>
        </p:spPr>
      </p:pic>
      <p:pic>
        <p:nvPicPr>
          <p:cNvPr id="9" name="Picture 8" descr="A picture containing diagram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" y="4058010"/>
            <a:ext cx="4759452" cy="21392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1" y="1825627"/>
            <a:ext cx="5772150" cy="4351335"/>
          </a:xfrm>
        </p:spPr>
        <p:txBody>
          <a:bodyPr/>
          <a:lstStyle/>
          <a:p>
            <a:r>
              <a:rPr lang="en-US" dirty="0"/>
              <a:t>Useful when for categorical data</a:t>
            </a:r>
          </a:p>
          <a:p>
            <a:r>
              <a:rPr lang="en-US" dirty="0"/>
              <a:t>Can have implicit order, if needed </a:t>
            </a:r>
          </a:p>
          <a:p>
            <a:r>
              <a:rPr lang="en-US" dirty="0"/>
              <a:t>Each </a:t>
            </a:r>
            <a:r>
              <a:rPr lang="en-US" b="1" dirty="0"/>
              <a:t>element</a:t>
            </a:r>
            <a:r>
              <a:rPr lang="en-US" dirty="0"/>
              <a:t> has a label or </a:t>
            </a:r>
            <a:r>
              <a:rPr lang="en-US" b="1" dirty="0"/>
              <a:t>level</a:t>
            </a:r>
          </a:p>
          <a:p>
            <a:r>
              <a:rPr lang="en-US" dirty="0"/>
              <a:t>They are important in statistical modelling and plotting with ggplot</a:t>
            </a:r>
          </a:p>
          <a:p>
            <a:r>
              <a:rPr lang="en-US" dirty="0"/>
              <a:t>Some operations behave differently on factors</a:t>
            </a:r>
          </a:p>
        </p:txBody>
      </p:sp>
      <p:pic>
        <p:nvPicPr>
          <p:cNvPr id="5" name="Content Placeholder 5" descr="Diagram&#10;&#10;Description automatically generated"/>
          <p:cNvPicPr>
            <a:picLocks noChangeAspect="1"/>
          </p:cNvPicPr>
          <p:nvPr/>
        </p:nvPicPr>
        <p:blipFill rotWithShape="1">
          <a:blip r:embed="rId2"/>
          <a:srcRect l="46973" t="21619" r="13061"/>
          <a:stretch>
            <a:fillRect/>
          </a:stretch>
        </p:blipFill>
        <p:spPr>
          <a:xfrm>
            <a:off x="6400801" y="2125931"/>
            <a:ext cx="2188029" cy="29327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825627"/>
            <a:ext cx="6131379" cy="4351335"/>
          </a:xfrm>
        </p:spPr>
        <p:txBody>
          <a:bodyPr/>
          <a:lstStyle/>
          <a:p>
            <a:r>
              <a:rPr lang="en-US" dirty="0"/>
              <a:t>Can contain objects of multiple classes</a:t>
            </a:r>
          </a:p>
          <a:p>
            <a:r>
              <a:rPr lang="en-US" dirty="0"/>
              <a:t>Very important data type in R</a:t>
            </a:r>
          </a:p>
          <a:p>
            <a:r>
              <a:rPr lang="en-US" dirty="0"/>
              <a:t>Extremely powerful when combined with some built-in functions </a:t>
            </a:r>
          </a:p>
          <a:p>
            <a:r>
              <a:rPr lang="en-US" altLang="zh-CN" dirty="0" err="1"/>
              <a:t>lm</a:t>
            </a:r>
            <a:r>
              <a:rPr lang="en-US" altLang="zh-CN" dirty="0"/>
              <a:t>() and </a:t>
            </a:r>
            <a:r>
              <a:rPr lang="en-US" altLang="zh-CN" dirty="0" err="1"/>
              <a:t>glm</a:t>
            </a:r>
            <a:r>
              <a:rPr lang="en-US" altLang="zh-CN" dirty="0"/>
              <a:t>() </a:t>
            </a:r>
          </a:p>
          <a:p>
            <a:r>
              <a:rPr lang="en-US" dirty="0" err="1"/>
              <a:t>lapply</a:t>
            </a:r>
            <a:r>
              <a:rPr lang="en-US" dirty="0"/>
              <a:t>() and </a:t>
            </a:r>
            <a:r>
              <a:rPr lang="en-US" dirty="0" err="1"/>
              <a:t>sapply</a:t>
            </a:r>
            <a:r>
              <a:rPr lang="en-US" dirty="0"/>
              <a:t>()</a:t>
            </a:r>
          </a:p>
        </p:txBody>
      </p:sp>
      <p:pic>
        <p:nvPicPr>
          <p:cNvPr id="3" name="Content Placeholder 5" descr="Diagram&#10;&#10;Description automatically generated"/>
          <p:cNvPicPr>
            <a:picLocks noChangeAspect="1"/>
          </p:cNvPicPr>
          <p:nvPr/>
        </p:nvPicPr>
        <p:blipFill rotWithShape="1">
          <a:blip r:embed="rId2"/>
          <a:srcRect l="28483" t="22492" r="53026"/>
          <a:stretch>
            <a:fillRect/>
          </a:stretch>
        </p:blipFill>
        <p:spPr>
          <a:xfrm>
            <a:off x="6760029" y="1690688"/>
            <a:ext cx="1469570" cy="420974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dimensions</a:t>
            </a:r>
          </a:p>
        </p:txBody>
      </p:sp>
      <p:pic>
        <p:nvPicPr>
          <p:cNvPr id="5" name="Content Placeholder 4" descr="Diagram, engineering drawing&#10;&#10;Description automatically generated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0909"/>
          <a:stretch>
            <a:fillRect/>
          </a:stretch>
        </p:blipFill>
        <p:spPr>
          <a:xfrm>
            <a:off x="1653437" y="1724749"/>
            <a:ext cx="2555308" cy="4066282"/>
          </a:xfrm>
        </p:spPr>
      </p:pic>
      <p:pic>
        <p:nvPicPr>
          <p:cNvPr id="3" name="Content Placeholder 4" descr="Diagram, engineering drawing&#10;&#10;Description automatically generated"/>
          <p:cNvPicPr>
            <a:picLocks noChangeAspect="1"/>
          </p:cNvPicPr>
          <p:nvPr/>
        </p:nvPicPr>
        <p:blipFill rotWithShape="1">
          <a:blip r:embed="rId2"/>
          <a:srcRect l="55970" r="9325"/>
          <a:stretch>
            <a:fillRect/>
          </a:stretch>
        </p:blipFill>
        <p:spPr>
          <a:xfrm>
            <a:off x="4336804" y="1712223"/>
            <a:ext cx="3153759" cy="420676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Break</a:t>
            </a:r>
            <a:endParaRPr lang="en-US" b="1" dirty="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8" y="2141951"/>
            <a:ext cx="3856860" cy="289608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686868"/>
                </a:solidFill>
              </a:rPr>
              <a:t>Control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structures and functions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4318" y="2141951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concept of environments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new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conditional statements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a for loop to iterate over a list of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Conditional statements</a:t>
            </a:r>
          </a:p>
        </p:txBody>
      </p:sp>
      <p:pic>
        <p:nvPicPr>
          <p:cNvPr id="5" name="Content Placeholder 4" descr="Graphical user interface, text, applicatio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121" y="3104264"/>
            <a:ext cx="5706997" cy="3040074"/>
          </a:xfrm>
        </p:spPr>
      </p:pic>
      <p:sp>
        <p:nvSpPr>
          <p:cNvPr id="7" name="TextBox 6"/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8" name="Content Placeholder 3"/>
          <p:cNvSpPr txBox="1"/>
          <p:nvPr/>
        </p:nvSpPr>
        <p:spPr>
          <a:xfrm>
            <a:off x="628650" y="1825627"/>
            <a:ext cx="7886700" cy="930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565" indent="-228600" algn="l" defTabSz="914400" rtl="0" eaLnBrk="1" latinLnBrk="0" hangingPunct="1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65" indent="-228600" algn="l" defTabSz="914400" rtl="0" eaLnBrk="1" latinLnBrk="0" hangingPunct="1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65" indent="-228600" algn="l" defTabSz="914400" rtl="0" eaLnBrk="1" latinLnBrk="0" hangingPunct="1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lnSpc>
                <a:spcPct val="90000"/>
              </a:lnSpc>
              <a:spcBef>
                <a:spcPts val="50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we want a set of actions to be executed only if certain conditions are met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930099"/>
          </a:xfrm>
        </p:spPr>
        <p:txBody>
          <a:bodyPr/>
          <a:lstStyle/>
          <a:p>
            <a:r>
              <a:rPr lang="en-US" dirty="0"/>
              <a:t>Repeat a set of operations a certain number of times</a:t>
            </a:r>
          </a:p>
        </p:txBody>
      </p:sp>
      <p:pic>
        <p:nvPicPr>
          <p:cNvPr id="8" name="Picture 7" descr="A picture containing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3429000"/>
            <a:ext cx="46863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While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930099"/>
          </a:xfrm>
        </p:spPr>
        <p:txBody>
          <a:bodyPr/>
          <a:lstStyle/>
          <a:p>
            <a:r>
              <a:rPr lang="en-US" dirty="0"/>
              <a:t>Repeat a set of operations until a condition is no longer met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325" y="3245814"/>
            <a:ext cx="5171576" cy="148545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What if base R is not enough?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Sometimes your analysis requires tools that are not available in base R</a:t>
            </a:r>
          </a:p>
          <a:p>
            <a:r>
              <a:rPr lang="en-CA" dirty="0"/>
              <a:t>Two options: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b="1" dirty="0"/>
              <a:t>Create new functions</a:t>
            </a:r>
          </a:p>
          <a:p>
            <a:pPr marL="971550" lvl="1" indent="-514350">
              <a:buFont typeface="+mj-lt"/>
              <a:buAutoNum type="arabicPeriod"/>
            </a:pPr>
            <a:endParaRPr lang="en-CA" dirty="0"/>
          </a:p>
          <a:p>
            <a:pPr marL="971550" lvl="1" indent="-514350">
              <a:buFont typeface="+mj-lt"/>
              <a:buAutoNum type="arabicPeriod"/>
            </a:pPr>
            <a:r>
              <a:rPr lang="en-CA" b="1" dirty="0"/>
              <a:t>Packages </a:t>
            </a:r>
            <a:r>
              <a:rPr lang="en-CA" dirty="0"/>
              <a:t>provide a way to incorporate methods and functions from 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 and environments </a:t>
            </a:r>
          </a:p>
        </p:txBody>
      </p:sp>
      <p:pic>
        <p:nvPicPr>
          <p:cNvPr id="6" name="Picture 5" descr="Diagram&#10;&#10;Description automatically generated with medium confid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72" y="1507808"/>
            <a:ext cx="5844244" cy="469171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Pass by value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pass an object to a function, a copy of it is created internally</a:t>
            </a:r>
          </a:p>
          <a:p>
            <a:r>
              <a:rPr lang="en-US" dirty="0"/>
              <a:t>The changes made inside the function won’t modify the original object we passed to it</a:t>
            </a:r>
          </a:p>
          <a:p>
            <a:r>
              <a:rPr lang="en-US" dirty="0"/>
              <a:t>Any variables created inside the function will only exist during the function’s execution time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Packages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Packages are a way for users to share methods they have developed</a:t>
            </a:r>
          </a:p>
          <a:p>
            <a:r>
              <a:rPr lang="en-CA" dirty="0"/>
              <a:t>Incorporate novel methods, datasets, or visualization tools</a:t>
            </a:r>
          </a:p>
          <a:p>
            <a:r>
              <a:rPr lang="en-CA" dirty="0"/>
              <a:t>Downloaded from many places:</a:t>
            </a:r>
          </a:p>
          <a:p>
            <a:pPr lvl="1"/>
            <a:r>
              <a:rPr lang="en-CA" b="1" dirty="0"/>
              <a:t>Comprehensive R Archive Network (CRAN)</a:t>
            </a:r>
          </a:p>
          <a:p>
            <a:pPr lvl="1"/>
            <a:r>
              <a:rPr lang="en-CA" b="1" dirty="0"/>
              <a:t>Bioconductor</a:t>
            </a:r>
          </a:p>
          <a:p>
            <a:pPr lvl="1"/>
            <a:r>
              <a:rPr lang="en-CA" dirty="0"/>
              <a:t>GitHub, Bitbucket etc.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Basic data 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0427" y="1825578"/>
            <a:ext cx="4146115" cy="341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how to read/write data to/from files with different formats (.</a:t>
            </a:r>
            <a:r>
              <a:rPr lang="en-US" dirty="0" err="1"/>
              <a:t>tsv</a:t>
            </a:r>
            <a:r>
              <a:rPr lang="en-US" dirty="0"/>
              <a:t>, .csv)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basic operations of data frames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Index and subset data frames using base 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Manipulate specific data frame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Joining by columns and rows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ED1B24"/>
                </a:solidFill>
              </a:rPr>
              <a:t>Advanced data </a:t>
            </a:r>
            <a:br>
              <a:rPr lang="en-US" sz="4800" b="1" dirty="0">
                <a:solidFill>
                  <a:srgbClr val="ED1B24"/>
                </a:solidFill>
              </a:rPr>
            </a:br>
            <a:r>
              <a:rPr lang="en-US" sz="4800" b="1" dirty="0">
                <a:solidFill>
                  <a:srgbClr val="ED1B24"/>
                </a:solidFill>
              </a:rPr>
              <a:t>manipulation</a:t>
            </a:r>
            <a:endParaRPr lang="en-US" sz="4800" dirty="0">
              <a:solidFill>
                <a:srgbClr val="ED1B2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26410" y="2231721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Become familiar with the dplyr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pipes with the operator </a:t>
            </a:r>
            <a:r>
              <a:rPr lang="en-US" i="1" dirty="0"/>
              <a:t>%&gt;%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 operations on data frames using dplyr and tidyr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functions from other external 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Split-Apply-Combine problem</a:t>
            </a:r>
          </a:p>
        </p:txBody>
      </p:sp>
      <p:pic>
        <p:nvPicPr>
          <p:cNvPr id="11" name="Picture 10" descr="Diagram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2042090"/>
            <a:ext cx="7226300" cy="3149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</a:t>
            </a:r>
          </a:p>
        </p:txBody>
      </p:sp>
      <p:pic>
        <p:nvPicPr>
          <p:cNvPr id="5" name="Picture 4" descr="A picture containing diagram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058" y="1941052"/>
            <a:ext cx="44577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by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5385"/>
          <a:stretch>
            <a:fillRect/>
          </a:stretch>
        </p:blipFill>
        <p:spPr>
          <a:xfrm>
            <a:off x="2088540" y="1506662"/>
            <a:ext cx="4140200" cy="4986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Summarize</a:t>
            </a:r>
          </a:p>
        </p:txBody>
      </p:sp>
      <p:pic>
        <p:nvPicPr>
          <p:cNvPr id="5" name="Picture 4" descr="Diagram, schematic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53" y="1449216"/>
            <a:ext cx="5494215" cy="48307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Programmer female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Break</a:t>
            </a:r>
            <a:endParaRPr lang="en-US" b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B2B2B2"/>
                </a:solidFill>
              </a:rPr>
              <a:t>Generating visual</a:t>
            </a:r>
            <a:br>
              <a:rPr lang="en-US" sz="5400" b="1" dirty="0">
                <a:solidFill>
                  <a:srgbClr val="B2B2B2"/>
                </a:solidFill>
              </a:rPr>
            </a:br>
            <a:r>
              <a:rPr lang="en-US" sz="5400" b="1" dirty="0">
                <a:solidFill>
                  <a:srgbClr val="B2B2B2"/>
                </a:solidFill>
              </a:rPr>
              <a:t>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9518" y="1540060"/>
            <a:ext cx="4146115" cy="397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basic plots using base 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connection between data frames and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basic graphs with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factors to customize graphics in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about RMarkdown syntax to create 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familiar with existing RMarkdown templates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Formatting data for ggplot</a:t>
            </a:r>
          </a:p>
        </p:txBody>
      </p:sp>
      <p:pic>
        <p:nvPicPr>
          <p:cNvPr id="5" name="Picture 4" descr="Diagram&#10;&#10;Description automatically generated"/>
          <p:cNvPicPr>
            <a:picLocks noChangeAspect="1"/>
          </p:cNvPicPr>
          <p:nvPr/>
        </p:nvPicPr>
        <p:blipFill rotWithShape="1">
          <a:blip r:embed="rId2"/>
          <a:srcRect b="12022"/>
          <a:stretch>
            <a:fillRect/>
          </a:stretch>
        </p:blipFill>
        <p:spPr>
          <a:xfrm>
            <a:off x="1728592" y="1517702"/>
            <a:ext cx="5235879" cy="482046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8" y="1994769"/>
            <a:ext cx="3856860" cy="286846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686868"/>
                </a:solidFill>
              </a:rPr>
              <a:t>Activity: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Analyzing a medical 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data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4318" y="2412888"/>
            <a:ext cx="4146115" cy="2032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a real-life use case of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the knowledge from previous modules to create an analysis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COVID testing dataset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Details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Data on testing for SARS-CoV2 from days 4-107 of the COVID pandemic in </a:t>
            </a:r>
            <a:r>
              <a:rPr lang="en-US" b="1" dirty="0"/>
              <a:t>2020</a:t>
            </a:r>
            <a:r>
              <a:rPr lang="en-US" dirty="0"/>
              <a:t>. CHOP is a pediatric hospital in Philadelphia, Pennsylvania, USA. These data have been anonymized, time- shifted, and permuted.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-67766" y="6544425"/>
            <a:ext cx="7452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Text taken from 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cran.r-project.org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/web/packages/medicaldata/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medicaldata.pdf</a:t>
            </a:r>
            <a:endParaRPr lang="en-US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49" y="1690688"/>
            <a:ext cx="82515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Documentation</a:t>
            </a:r>
          </a:p>
          <a:p>
            <a:endParaRPr lang="en-US" sz="2400" b="1" dirty="0"/>
          </a:p>
          <a:p>
            <a:pPr marL="342900" indent="-342900">
              <a:buFontTx/>
              <a:buChar char="-"/>
            </a:pPr>
            <a:r>
              <a:rPr lang="en-US" sz="2400" dirty="0"/>
              <a:t>Part of the </a:t>
            </a:r>
            <a:r>
              <a:rPr lang="en-US" sz="2400" dirty="0">
                <a:hlinkClick r:id="rId2"/>
              </a:rPr>
              <a:t>medicaldata</a:t>
            </a:r>
            <a:r>
              <a:rPr lang="en-US" sz="2400" dirty="0"/>
              <a:t> package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hlinkClick r:id="rId3"/>
              </a:rPr>
              <a:t>https://htmlpreview.github.io/?https://github.com/higgi13425/medicaldata/blob/master/man/description_docs/covid_desc.html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>
                <a:hlinkClick r:id="rId4"/>
              </a:rPr>
              <a:t>https://htmlpreview.github.io/?https://github.com/higgi13425/medicaldata/blob/master/man/codebooks/covid_testing_codebook.html</a:t>
            </a:r>
            <a:endParaRPr lang="en-US" sz="2400" dirty="0"/>
          </a:p>
          <a:p>
            <a:pPr marL="342900" indent="-342900">
              <a:buFontTx/>
              <a:buChar char="-"/>
            </a:pP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ext&#10;&#10;Description automatically generated with medium confidence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709100"/>
            <a:ext cx="7886700" cy="2012388"/>
          </a:xfrm>
        </p:spPr>
      </p:pic>
      <p:pic>
        <p:nvPicPr>
          <p:cNvPr id="7" name="Picture 6" descr="Text, letter&#10;&#10;Description automatically generated"/>
          <p:cNvPicPr>
            <a:picLocks noChangeAspect="1"/>
          </p:cNvPicPr>
          <p:nvPr/>
        </p:nvPicPr>
        <p:blipFill rotWithShape="1">
          <a:blip r:embed="rId4"/>
          <a:srcRect b="55151"/>
          <a:stretch>
            <a:fillRect/>
          </a:stretch>
        </p:blipFill>
        <p:spPr>
          <a:xfrm>
            <a:off x="918796" y="2721488"/>
            <a:ext cx="7772400" cy="270998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, letter&#10;&#10;Description automatically generated"/>
          <p:cNvPicPr>
            <a:picLocks noChangeAspect="1"/>
          </p:cNvPicPr>
          <p:nvPr/>
        </p:nvPicPr>
        <p:blipFill rotWithShape="1">
          <a:blip r:embed="rId2"/>
          <a:srcRect t="44558"/>
          <a:stretch>
            <a:fillRect/>
          </a:stretch>
        </p:blipFill>
        <p:spPr>
          <a:xfrm>
            <a:off x="685800" y="1753954"/>
            <a:ext cx="7772400" cy="335009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7" y="2141951"/>
            <a:ext cx="4445583" cy="2254684"/>
          </a:xfrm>
        </p:spPr>
        <p:txBody>
          <a:bodyPr>
            <a:normAutofit/>
          </a:bodyPr>
          <a:lstStyle/>
          <a:p>
            <a:r>
              <a:rPr lang="en-US" sz="4800" b="1" dirty="0"/>
              <a:t>Software development</a:t>
            </a:r>
            <a:br>
              <a:rPr lang="en-US" sz="4800" b="1" dirty="0"/>
            </a:br>
            <a:r>
              <a:rPr lang="en-US" sz="4800" b="1" dirty="0"/>
              <a:t>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0428" y="2412888"/>
            <a:ext cx="3952957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general good coding practices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about documentation standards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Things to avoid when programming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how to debug and troubleshoot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we learned today: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What is R</a:t>
            </a:r>
          </a:p>
          <a:p>
            <a:r>
              <a:rPr lang="en-CA" dirty="0"/>
              <a:t>Basic syntax, data types</a:t>
            </a:r>
          </a:p>
          <a:p>
            <a:r>
              <a:rPr lang="en-CA" dirty="0"/>
              <a:t>Data Manipulation and Visualization</a:t>
            </a:r>
          </a:p>
          <a:p>
            <a:r>
              <a:rPr lang="en-CA" dirty="0"/>
              <a:t>Package Installation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What’s next?</a:t>
            </a:r>
          </a:p>
          <a:p>
            <a:r>
              <a:rPr lang="en-CA" dirty="0"/>
              <a:t>2025 </a:t>
            </a:r>
            <a:r>
              <a:rPr lang="en-US" altLang="zh-CN" dirty="0"/>
              <a:t>Summer Series</a:t>
            </a:r>
            <a:endParaRPr lang="en-CA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Statistics in R Workshop (Part 2)</a:t>
            </a:r>
          </a:p>
          <a:p>
            <a:r>
              <a:rPr lang="en-CA" dirty="0"/>
              <a:t>Data Wrangling</a:t>
            </a:r>
          </a:p>
          <a:p>
            <a:r>
              <a:rPr lang="en-CA" dirty="0"/>
              <a:t>Regression</a:t>
            </a:r>
          </a:p>
          <a:p>
            <a:r>
              <a:rPr lang="en-CA" dirty="0"/>
              <a:t>Statistical Analysis</a:t>
            </a:r>
          </a:p>
          <a:p>
            <a:endParaRPr lang="en-CA" dirty="0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>
                <a:latin typeface="Helvetica" pitchFamily="2" charset="0"/>
              </a:rPr>
              <a:t>Thank you for attending!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553" y="5081109"/>
            <a:ext cx="22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lvl="1" algn="ctr"/>
            <a:r>
              <a:rPr lang="en-CA" sz="1600">
                <a:latin typeface="Helvetica" pitchFamily="2" charset="0"/>
              </a:rPr>
              <a:t>Scan the QR code to confirm you attended today’s workshop.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5521" y="5087164"/>
            <a:ext cx="1866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Fill out the feedback survey in the next 72h.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0821" y="5081109"/>
            <a:ext cx="26959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Get recognition for this workshop on your </a:t>
            </a:r>
          </a:p>
          <a:p>
            <a:pPr algn="ctr"/>
            <a:r>
              <a:rPr lang="en-CA" sz="1600">
                <a:latin typeface="Helvetica" pitchFamily="2" charset="0"/>
              </a:rPr>
              <a:t>co-curricular record. </a:t>
            </a: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1298705" y="1853639"/>
            <a:ext cx="720000" cy="686283"/>
          </a:xfrm>
          <a:prstGeom prst="ellipse">
            <a:avLst/>
          </a:prstGeom>
          <a:solidFill>
            <a:srgbClr val="13A89E">
              <a:alpha val="4941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1</a:t>
            </a:r>
          </a:p>
        </p:txBody>
      </p:sp>
      <p:sp>
        <p:nvSpPr>
          <p:cNvPr id="11" name="Oval 10"/>
          <p:cNvSpPr>
            <a:spLocks noChangeAspect="1"/>
          </p:cNvSpPr>
          <p:nvPr/>
        </p:nvSpPr>
        <p:spPr>
          <a:xfrm>
            <a:off x="4128760" y="1853639"/>
            <a:ext cx="720000" cy="686283"/>
          </a:xfrm>
          <a:prstGeom prst="ellipse">
            <a:avLst/>
          </a:prstGeom>
          <a:solidFill>
            <a:srgbClr val="13A89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2</a:t>
            </a:r>
          </a:p>
        </p:txBody>
      </p:sp>
      <p:sp>
        <p:nvSpPr>
          <p:cNvPr id="12" name="Oval 11"/>
          <p:cNvSpPr>
            <a:spLocks noChangeAspect="1"/>
          </p:cNvSpPr>
          <p:nvPr/>
        </p:nvSpPr>
        <p:spPr>
          <a:xfrm>
            <a:off x="6958815" y="1837130"/>
            <a:ext cx="720000" cy="686283"/>
          </a:xfrm>
          <a:prstGeom prst="ellipse">
            <a:avLst/>
          </a:prstGeom>
          <a:solidFill>
            <a:srgbClr val="13A8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3</a:t>
            </a:r>
          </a:p>
        </p:txBody>
      </p:sp>
      <p:pic>
        <p:nvPicPr>
          <p:cNvPr id="14" name="Graphic 13" descr="Clipboard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5521" y="2880306"/>
            <a:ext cx="1866473" cy="1866473"/>
          </a:xfrm>
          <a:prstGeom prst="rect">
            <a:avLst/>
          </a:prstGeom>
        </p:spPr>
      </p:pic>
      <p:pic>
        <p:nvPicPr>
          <p:cNvPr id="1026" name="Picture 2" descr="Co-curricular record approval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815" y="3051542"/>
            <a:ext cx="2032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qr code with black squares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83" y="2702873"/>
            <a:ext cx="2294418" cy="229441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R software project</a:t>
            </a:r>
            <a:endParaRPr lang="en-US" dirty="0"/>
          </a:p>
          <a:p>
            <a:r>
              <a:rPr lang="en-US" dirty="0">
                <a:hlinkClick r:id="rId3"/>
              </a:rPr>
              <a:t>R Cookbook</a:t>
            </a:r>
            <a:endParaRPr lang="en-US" dirty="0"/>
          </a:p>
          <a:p>
            <a:r>
              <a:rPr lang="en-US" dirty="0">
                <a:hlinkClick r:id="rId4"/>
              </a:rPr>
              <a:t>RStudio </a:t>
            </a:r>
            <a:r>
              <a:rPr lang="en-US" dirty="0" err="1">
                <a:hlinkClick r:id="rId4"/>
              </a:rPr>
              <a:t>Cheatsheet</a:t>
            </a:r>
            <a:r>
              <a:rPr lang="en-US" dirty="0">
                <a:hlinkClick r:id="rId4"/>
              </a:rPr>
              <a:t> </a:t>
            </a:r>
            <a:endParaRPr lang="en-US" dirty="0"/>
          </a:p>
          <a:p>
            <a:r>
              <a:rPr lang="en-US" dirty="0">
                <a:hlinkClick r:id="rId5"/>
              </a:rPr>
              <a:t>R ggplot2 </a:t>
            </a:r>
            <a:r>
              <a:rPr lang="en-US" dirty="0" err="1">
                <a:hlinkClick r:id="rId5"/>
              </a:rPr>
              <a:t>Cheatsheet</a:t>
            </a:r>
            <a:r>
              <a:rPr lang="en-US" dirty="0">
                <a:hlinkClick r:id="rId5"/>
              </a:rPr>
              <a:t> </a:t>
            </a:r>
            <a:endParaRPr lang="en-US" dirty="0"/>
          </a:p>
          <a:p>
            <a:r>
              <a:rPr lang="en-US" dirty="0">
                <a:hlinkClick r:id="rId6"/>
              </a:rPr>
              <a:t>R </a:t>
            </a:r>
            <a:r>
              <a:rPr lang="en-US" dirty="0" err="1">
                <a:hlinkClick r:id="rId6"/>
              </a:rPr>
              <a:t>dplyr</a:t>
            </a:r>
            <a:r>
              <a:rPr lang="en-US" dirty="0">
                <a:hlinkClick r:id="rId6"/>
              </a:rPr>
              <a:t> </a:t>
            </a:r>
            <a:r>
              <a:rPr lang="en-US" dirty="0" err="1">
                <a:hlinkClick r:id="rId6"/>
              </a:rPr>
              <a:t>Cheatsheet</a:t>
            </a:r>
            <a:endParaRPr lang="en-US" dirty="0"/>
          </a:p>
          <a:p>
            <a:r>
              <a:rPr lang="en-US" dirty="0">
                <a:hlinkClick r:id="rId7"/>
              </a:rPr>
              <a:t>RS</a:t>
            </a:r>
            <a:r>
              <a:rPr lang="en-US" altLang="zh-CN" dirty="0">
                <a:hlinkClick r:id="rId7"/>
              </a:rPr>
              <a:t>tudio Shortcuts </a:t>
            </a:r>
            <a:endParaRPr lang="en-US" dirty="0"/>
          </a:p>
          <a:p>
            <a:r>
              <a:rPr lang="en-US" dirty="0">
                <a:hlinkClick r:id="rId8"/>
              </a:rPr>
              <a:t>More resources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1434</Words>
  <Application>Microsoft Office PowerPoint</Application>
  <PresentationFormat>On-screen Show (4:3)</PresentationFormat>
  <Paragraphs>356</Paragraphs>
  <Slides>59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Bangla Sangam MN</vt:lpstr>
      <vt:lpstr>Monaco</vt:lpstr>
      <vt:lpstr>Arial</vt:lpstr>
      <vt:lpstr>Calibri</vt:lpstr>
      <vt:lpstr>Calibri Light</vt:lpstr>
      <vt:lpstr>Helvetica</vt:lpstr>
      <vt:lpstr>Open Sans Light</vt:lpstr>
      <vt:lpstr>Thème Office</vt:lpstr>
      <vt:lpstr>PowerPoint Presentation</vt:lpstr>
      <vt:lpstr>Intro to  programming in R  Lead: Bangli Cao Facilitator: Chen-Yang Su  April 11, 2025 Materials adapted from Adrien Osakwe</vt:lpstr>
      <vt:lpstr>PowerPoint Presentation</vt:lpstr>
      <vt:lpstr>PowerPoint Presentation</vt:lpstr>
      <vt:lpstr>PowerPoint Presentation</vt:lpstr>
      <vt:lpstr>Workshop outline Part 2</vt:lpstr>
      <vt:lpstr>PowerPoint Presentation</vt:lpstr>
      <vt:lpstr>1. The R programming language</vt:lpstr>
      <vt:lpstr>Why not Excel?</vt:lpstr>
      <vt:lpstr>PowerPoint Presentation</vt:lpstr>
      <vt:lpstr>R facts</vt:lpstr>
      <vt:lpstr>R Files</vt:lpstr>
      <vt:lpstr>R &amp; RStudio</vt:lpstr>
      <vt:lpstr>PowerPoint Presentation</vt:lpstr>
      <vt:lpstr>PowerPoint Presentation</vt:lpstr>
      <vt:lpstr>Data types and data structures </vt:lpstr>
      <vt:lpstr>Atomic Classes Also called data types</vt:lpstr>
      <vt:lpstr>Arithmetic operators</vt:lpstr>
      <vt:lpstr>Syntax operators</vt:lpstr>
      <vt:lpstr>Logical operators</vt:lpstr>
      <vt:lpstr>Objects Also called data structures</vt:lpstr>
      <vt:lpstr>One dimension </vt:lpstr>
      <vt:lpstr>Vectors</vt:lpstr>
      <vt:lpstr>Vectorized operations</vt:lpstr>
      <vt:lpstr>Factors</vt:lpstr>
      <vt:lpstr>Lists</vt:lpstr>
      <vt:lpstr>Multiple dimensions</vt:lpstr>
      <vt:lpstr>Break</vt:lpstr>
      <vt:lpstr>Control structures and functions </vt:lpstr>
      <vt:lpstr>Conditional statements</vt:lpstr>
      <vt:lpstr>For loop</vt:lpstr>
      <vt:lpstr>While loop</vt:lpstr>
      <vt:lpstr>What if base R is not enough?</vt:lpstr>
      <vt:lpstr>Functions and environments </vt:lpstr>
      <vt:lpstr>Pass by value and scope</vt:lpstr>
      <vt:lpstr>Packages</vt:lpstr>
      <vt:lpstr>PowerPoint Presentation</vt:lpstr>
      <vt:lpstr>Basic data manipulation</vt:lpstr>
      <vt:lpstr>PowerPoint Presentation</vt:lpstr>
      <vt:lpstr>Advanced data  manipulation</vt:lpstr>
      <vt:lpstr>Split-Apply-Combine problem</vt:lpstr>
      <vt:lpstr>Select</vt:lpstr>
      <vt:lpstr>Group by</vt:lpstr>
      <vt:lpstr>Summarize</vt:lpstr>
      <vt:lpstr>PowerPoint Presentation</vt:lpstr>
      <vt:lpstr>Break</vt:lpstr>
      <vt:lpstr>Generating visual outputs</vt:lpstr>
      <vt:lpstr>Formatting data for ggplot</vt:lpstr>
      <vt:lpstr>PowerPoint Presentation</vt:lpstr>
      <vt:lpstr>Activity: Analyzing a medical  data set</vt:lpstr>
      <vt:lpstr>COVID testing dataset </vt:lpstr>
      <vt:lpstr>The dataset</vt:lpstr>
      <vt:lpstr>PowerPoint Presentation</vt:lpstr>
      <vt:lpstr>PowerPoint Presentation</vt:lpstr>
      <vt:lpstr>Software development concepts</vt:lpstr>
      <vt:lpstr>PowerPoint Presentation</vt:lpstr>
      <vt:lpstr>PowerPoint Presentation</vt:lpstr>
      <vt:lpstr>Thank you for attending!</vt:lpstr>
      <vt:lpstr>Useful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Shucheng Cao</cp:lastModifiedBy>
  <cp:revision>46</cp:revision>
  <cp:lastPrinted>2025-02-13T16:51:00Z</cp:lastPrinted>
  <dcterms:created xsi:type="dcterms:W3CDTF">2019-07-29T14:54:00Z</dcterms:created>
  <dcterms:modified xsi:type="dcterms:W3CDTF">2025-04-14T18:20:16Z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A98F99CB287443D787E535AA79C6F7E7_12</vt:lpwstr>
  </property>
  <property fmtid="{D5CDD505-2E9C-101B-9397-08002B2CF9AE}" pid="3" name="KSOProductBuildVer">
    <vt:lpwstr>2052-12.1.0.20784</vt:lpwstr>
  </property>
</Properties>
</file>